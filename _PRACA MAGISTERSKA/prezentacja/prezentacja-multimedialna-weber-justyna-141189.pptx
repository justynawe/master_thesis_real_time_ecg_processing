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648" r:id="rId4"/>
    <p:sldMasterId id="2147483664" r:id="rId5"/>
  </p:sldMasterIdLst>
  <p:notesMasterIdLst>
    <p:notesMasterId r:id="rId17"/>
  </p:notesMasterIdLst>
  <p:handoutMasterIdLst>
    <p:handoutMasterId r:id="rId18"/>
  </p:handoutMasterIdLst>
  <p:sldIdLst>
    <p:sldId id="256" r:id="rId6"/>
    <p:sldId id="267" r:id="rId7"/>
    <p:sldId id="259" r:id="rId8"/>
    <p:sldId id="268" r:id="rId9"/>
    <p:sldId id="260" r:id="rId10"/>
    <p:sldId id="264" r:id="rId11"/>
    <p:sldId id="262" r:id="rId12"/>
    <p:sldId id="263" r:id="rId13"/>
    <p:sldId id="265" r:id="rId14"/>
    <p:sldId id="269" r:id="rId15"/>
    <p:sldId id="266" r:id="rId16"/>
  </p:sldIdLst>
  <p:sldSz cx="9144000" cy="5143500" type="screen16x9"/>
  <p:notesSz cx="6858000" cy="9144000"/>
  <p:defaultTextStyle>
    <a:defPPr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16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DEA68-7253-524B-B7ED-D84A80ED135C}" type="datetimeFigureOut">
              <a:rPr lang="pl-PL" smtClean="0"/>
              <a:t>8.06.2026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819C5-210B-4442-9E66-7227A66DCDD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384930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29C27-A09B-3E44-9DB8-8913E8D55002}" type="datetimeFigureOut">
              <a:rPr lang="pl-PL" smtClean="0"/>
              <a:t>8.06.2026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93B1A-C82D-994E-B408-6CCFE3DECA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73731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044000" y="2687772"/>
            <a:ext cx="7541112" cy="1102519"/>
          </a:xfrm>
        </p:spPr>
        <p:txBody>
          <a:bodyPr lIns="0" tIns="0" rIns="0" bIns="0" anchor="b" anchorCtr="0">
            <a:normAutofit/>
          </a:bodyPr>
          <a:lstStyle>
            <a:lvl1pPr algn="l">
              <a:defRPr sz="3200" b="1">
                <a:solidFill>
                  <a:srgbClr val="FFFFFF"/>
                </a:solidFill>
                <a:latin typeface="Open Sans Regular"/>
                <a:cs typeface="Open Sans Regular"/>
              </a:defRPr>
            </a:lvl1pPr>
          </a:lstStyle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044000" y="3892070"/>
            <a:ext cx="6400800" cy="588409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Light"/>
                <a:cs typeface="Open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Kliknij, aby edytować styl wzorca podtytułu</a:t>
            </a: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1044000" y="4486735"/>
            <a:ext cx="2895600" cy="27384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100">
                <a:solidFill>
                  <a:schemeClr val="bg1"/>
                </a:solidFill>
                <a:latin typeface="Open Sans Light"/>
                <a:cs typeface="Open Sans Light"/>
              </a:defRPr>
            </a:lvl1pPr>
          </a:lstStyle>
          <a:p>
            <a:r>
              <a:rPr lang="pl-PL" dirty="0"/>
              <a:t>1 lutego 2019, Warszawa</a:t>
            </a:r>
          </a:p>
        </p:txBody>
      </p:sp>
      <p:pic>
        <p:nvPicPr>
          <p:cNvPr id="9" name="Obraz 8" descr="logoSGH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41" y="473241"/>
            <a:ext cx="900363" cy="90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6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foto-ogolna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  <p:pic>
        <p:nvPicPr>
          <p:cNvPr id="6" name="Obraz 5" descr="SGH_piramida-ogolna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1044000" y="4486735"/>
            <a:ext cx="2895600" cy="27384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100">
                <a:solidFill>
                  <a:schemeClr val="bg1"/>
                </a:solidFill>
                <a:latin typeface="Open Sans Light"/>
                <a:cs typeface="Open Sans Light"/>
              </a:defRPr>
            </a:lvl1pPr>
          </a:lstStyle>
          <a:p>
            <a:r>
              <a:rPr lang="pl-PL" dirty="0"/>
              <a:t>1 lutego 2019, Warszawa</a:t>
            </a:r>
          </a:p>
        </p:txBody>
      </p:sp>
      <p:pic>
        <p:nvPicPr>
          <p:cNvPr id="9" name="Obraz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41" y="473241"/>
            <a:ext cx="900363" cy="900363"/>
          </a:xfrm>
          <a:prstGeom prst="rect">
            <a:avLst/>
          </a:prstGeom>
        </p:spPr>
      </p:pic>
      <p:sp>
        <p:nvSpPr>
          <p:cNvPr id="10" name="Tytuł 1"/>
          <p:cNvSpPr>
            <a:spLocks noGrp="1"/>
          </p:cNvSpPr>
          <p:nvPr>
            <p:ph type="ctrTitle"/>
          </p:nvPr>
        </p:nvSpPr>
        <p:spPr>
          <a:xfrm>
            <a:off x="1044000" y="2687772"/>
            <a:ext cx="7541112" cy="1102519"/>
          </a:xfrm>
        </p:spPr>
        <p:txBody>
          <a:bodyPr lIns="0" tIns="0" rIns="0" bIns="0" anchor="b" anchorCtr="0">
            <a:normAutofit/>
          </a:bodyPr>
          <a:lstStyle>
            <a:lvl1pPr algn="l">
              <a:defRPr sz="3200" b="1">
                <a:solidFill>
                  <a:srgbClr val="FFFFFF"/>
                </a:solidFill>
                <a:latin typeface="Open Sans Regular"/>
                <a:cs typeface="Open Sans Regular"/>
              </a:defRPr>
            </a:lvl1pPr>
          </a:lstStyle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  <p:sp>
        <p:nvSpPr>
          <p:cNvPr id="11" name="Podtytuł 2"/>
          <p:cNvSpPr>
            <a:spLocks noGrp="1"/>
          </p:cNvSpPr>
          <p:nvPr>
            <p:ph type="subTitle" idx="1"/>
          </p:nvPr>
        </p:nvSpPr>
        <p:spPr>
          <a:xfrm>
            <a:off x="1044000" y="3892070"/>
            <a:ext cx="6400800" cy="588409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Light"/>
                <a:cs typeface="Open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Kliknij, aby edytować styl wzorca podtytułu</a:t>
            </a:r>
          </a:p>
        </p:txBody>
      </p:sp>
    </p:spTree>
    <p:extLst>
      <p:ext uri="{BB962C8B-B14F-4D97-AF65-F5344CB8AC3E}">
        <p14:creationId xmlns:p14="http://schemas.microsoft.com/office/powerpoint/2010/main" val="349318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lajd tytułow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>
            <a:spLocks noGrp="1"/>
          </p:cNvSpPr>
          <p:nvPr>
            <p:ph type="ctrTitle"/>
          </p:nvPr>
        </p:nvSpPr>
        <p:spPr>
          <a:xfrm>
            <a:off x="1044000" y="3181996"/>
            <a:ext cx="7541112" cy="1102519"/>
          </a:xfrm>
        </p:spPr>
        <p:txBody>
          <a:bodyPr lIns="0" tIns="0" rIns="0" bIns="0" anchor="b" anchorCtr="0">
            <a:normAutofit/>
          </a:bodyPr>
          <a:lstStyle>
            <a:lvl1pPr algn="l">
              <a:defRPr sz="3200" b="1">
                <a:solidFill>
                  <a:srgbClr val="FFFFFF"/>
                </a:solidFill>
                <a:latin typeface="Open Sans Regular"/>
                <a:cs typeface="Open Sans Regular"/>
              </a:defRPr>
            </a:lvl1pPr>
          </a:lstStyle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</p:spTree>
    <p:extLst>
      <p:ext uri="{BB962C8B-B14F-4D97-AF65-F5344CB8AC3E}">
        <p14:creationId xmlns:p14="http://schemas.microsoft.com/office/powerpoint/2010/main" val="108760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918000" y="1187302"/>
            <a:ext cx="3577800" cy="3145745"/>
          </a:xfrm>
        </p:spPr>
        <p:txBody>
          <a:bodyPr>
            <a:norm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920624" y="1187302"/>
            <a:ext cx="3766176" cy="3145745"/>
          </a:xfrm>
        </p:spPr>
        <p:txBody>
          <a:bodyPr>
            <a:norm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770058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917999" y="1187302"/>
            <a:ext cx="7773417" cy="3145745"/>
          </a:xfrm>
        </p:spPr>
        <p:txBody>
          <a:bodyPr>
            <a:norm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107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1238250"/>
            <a:ext cx="2273300" cy="300038"/>
          </a:xfrm>
        </p:spPr>
        <p:txBody>
          <a:bodyPr anchor="t" anchorCtr="0">
            <a:noAutofit/>
          </a:bodyPr>
          <a:lstStyle>
            <a:lvl1pPr marL="0" indent="0">
              <a:buNone/>
              <a:defRPr sz="1100">
                <a:solidFill>
                  <a:srgbClr val="00748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TYTUŁ ZDJĘCIA</a:t>
            </a:r>
          </a:p>
        </p:txBody>
      </p:sp>
      <p:sp>
        <p:nvSpPr>
          <p:cNvPr id="9" name="Symbol zastępczy obrazu 8"/>
          <p:cNvSpPr>
            <a:spLocks noGrp="1"/>
          </p:cNvSpPr>
          <p:nvPr>
            <p:ph type="pic" sz="quarter" idx="11"/>
          </p:nvPr>
        </p:nvSpPr>
        <p:spPr>
          <a:xfrm>
            <a:off x="917575" y="1538288"/>
            <a:ext cx="2273300" cy="2066925"/>
          </a:xfrm>
        </p:spPr>
        <p:txBody>
          <a:bodyPr/>
          <a:lstStyle/>
          <a:p>
            <a:endParaRPr lang="pl-PL"/>
          </a:p>
        </p:txBody>
      </p:sp>
      <p:sp>
        <p:nvSpPr>
          <p:cNvPr id="11" name="Symbol zastępczy zawartości 10"/>
          <p:cNvSpPr>
            <a:spLocks noGrp="1"/>
          </p:cNvSpPr>
          <p:nvPr>
            <p:ph sz="quarter" idx="12"/>
          </p:nvPr>
        </p:nvSpPr>
        <p:spPr>
          <a:xfrm>
            <a:off x="917575" y="3682872"/>
            <a:ext cx="2273300" cy="611188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2" name="Symbol zastępczy tekstu 6"/>
          <p:cNvSpPr>
            <a:spLocks noGrp="1"/>
          </p:cNvSpPr>
          <p:nvPr>
            <p:ph type="body" sz="quarter" idx="13" hasCustomPrompt="1"/>
          </p:nvPr>
        </p:nvSpPr>
        <p:spPr>
          <a:xfrm>
            <a:off x="3661120" y="1238250"/>
            <a:ext cx="2273300" cy="300038"/>
          </a:xfrm>
        </p:spPr>
        <p:txBody>
          <a:bodyPr anchor="t" anchorCtr="0">
            <a:noAutofit/>
          </a:bodyPr>
          <a:lstStyle>
            <a:lvl1pPr marL="0" indent="0">
              <a:buNone/>
              <a:defRPr sz="1100">
                <a:solidFill>
                  <a:srgbClr val="00748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TYTUŁ ZDJĘCIA</a:t>
            </a:r>
          </a:p>
        </p:txBody>
      </p:sp>
      <p:sp>
        <p:nvSpPr>
          <p:cNvPr id="13" name="Symbol zastępczy obrazu 8"/>
          <p:cNvSpPr>
            <a:spLocks noGrp="1"/>
          </p:cNvSpPr>
          <p:nvPr>
            <p:ph type="pic" sz="quarter" idx="14"/>
          </p:nvPr>
        </p:nvSpPr>
        <p:spPr>
          <a:xfrm>
            <a:off x="3661120" y="1538288"/>
            <a:ext cx="2273300" cy="2066925"/>
          </a:xfrm>
        </p:spPr>
        <p:txBody>
          <a:bodyPr/>
          <a:lstStyle/>
          <a:p>
            <a:endParaRPr lang="pl-PL"/>
          </a:p>
        </p:txBody>
      </p:sp>
      <p:sp>
        <p:nvSpPr>
          <p:cNvPr id="14" name="Symbol zastępczy zawartości 10"/>
          <p:cNvSpPr>
            <a:spLocks noGrp="1"/>
          </p:cNvSpPr>
          <p:nvPr>
            <p:ph sz="quarter" idx="15"/>
          </p:nvPr>
        </p:nvSpPr>
        <p:spPr>
          <a:xfrm>
            <a:off x="3661120" y="3682872"/>
            <a:ext cx="2273300" cy="611188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5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6404391" y="1238250"/>
            <a:ext cx="2273300" cy="300038"/>
          </a:xfrm>
        </p:spPr>
        <p:txBody>
          <a:bodyPr anchor="t" anchorCtr="0">
            <a:noAutofit/>
          </a:bodyPr>
          <a:lstStyle>
            <a:lvl1pPr marL="0" indent="0">
              <a:buNone/>
              <a:defRPr sz="1100">
                <a:solidFill>
                  <a:srgbClr val="00748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TYTUŁ ZDJĘCIA</a:t>
            </a:r>
          </a:p>
        </p:txBody>
      </p:sp>
      <p:sp>
        <p:nvSpPr>
          <p:cNvPr id="16" name="Symbol zastępczy obrazu 8"/>
          <p:cNvSpPr>
            <a:spLocks noGrp="1"/>
          </p:cNvSpPr>
          <p:nvPr>
            <p:ph type="pic" sz="quarter" idx="17"/>
          </p:nvPr>
        </p:nvSpPr>
        <p:spPr>
          <a:xfrm>
            <a:off x="6404391" y="1538288"/>
            <a:ext cx="2273300" cy="2066925"/>
          </a:xfrm>
        </p:spPr>
        <p:txBody>
          <a:bodyPr/>
          <a:lstStyle/>
          <a:p>
            <a:endParaRPr lang="pl-PL"/>
          </a:p>
        </p:txBody>
      </p:sp>
      <p:sp>
        <p:nvSpPr>
          <p:cNvPr id="17" name="Symbol zastępczy zawartości 10"/>
          <p:cNvSpPr>
            <a:spLocks noGrp="1"/>
          </p:cNvSpPr>
          <p:nvPr>
            <p:ph sz="quarter" idx="18"/>
          </p:nvPr>
        </p:nvSpPr>
        <p:spPr>
          <a:xfrm>
            <a:off x="6404391" y="3682872"/>
            <a:ext cx="2273300" cy="611188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107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8" name="Symbol zastępczy obrazu 7"/>
          <p:cNvSpPr>
            <a:spLocks noGrp="1"/>
          </p:cNvSpPr>
          <p:nvPr>
            <p:ph type="pic" sz="quarter" idx="10"/>
          </p:nvPr>
        </p:nvSpPr>
        <p:spPr>
          <a:xfrm>
            <a:off x="0" y="1270000"/>
            <a:ext cx="4135438" cy="2840038"/>
          </a:xfrm>
        </p:spPr>
        <p:txBody>
          <a:bodyPr/>
          <a:lstStyle/>
          <a:p>
            <a:endParaRPr lang="pl-PL"/>
          </a:p>
        </p:txBody>
      </p:sp>
      <p:sp>
        <p:nvSpPr>
          <p:cNvPr id="10" name="Symbol zastępczy tekstu 9"/>
          <p:cNvSpPr>
            <a:spLocks noGrp="1"/>
          </p:cNvSpPr>
          <p:nvPr>
            <p:ph type="body" sz="quarter" idx="11"/>
          </p:nvPr>
        </p:nvSpPr>
        <p:spPr>
          <a:xfrm>
            <a:off x="4562475" y="1270000"/>
            <a:ext cx="4129088" cy="2840038"/>
          </a:xfr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056834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ytuł prezentacji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044000" y="2687772"/>
            <a:ext cx="7541112" cy="1102519"/>
          </a:xfrm>
        </p:spPr>
        <p:txBody>
          <a:bodyPr lIns="0" tIns="0" rIns="0" bIns="0" anchor="b" anchorCtr="0">
            <a:noAutofit/>
          </a:bodyPr>
          <a:lstStyle>
            <a:lvl1pPr algn="l">
              <a:defRPr sz="3200" b="1">
                <a:solidFill>
                  <a:srgbClr val="FFFFFF"/>
                </a:solidFill>
                <a:latin typeface="Open Sans Regular"/>
                <a:cs typeface="Open Sans Regular"/>
              </a:defRPr>
            </a:lvl1pPr>
          </a:lstStyle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044000" y="3892070"/>
            <a:ext cx="6400800" cy="58840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Light"/>
                <a:cs typeface="Open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Kliknij, aby edytować styl wzorca podtytułu</a:t>
            </a: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1044000" y="4486735"/>
            <a:ext cx="2895600" cy="27384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100">
                <a:solidFill>
                  <a:schemeClr val="bg1"/>
                </a:solidFill>
                <a:latin typeface="Open Sans Light"/>
                <a:cs typeface="Open Sans Light"/>
              </a:defRPr>
            </a:lvl1pPr>
          </a:lstStyle>
          <a:p>
            <a:endParaRPr lang="pl-PL" dirty="0"/>
          </a:p>
        </p:txBody>
      </p:sp>
      <p:pic>
        <p:nvPicPr>
          <p:cNvPr id="9" name="Obraz 8" descr="logoSGH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41" y="473241"/>
            <a:ext cx="900363" cy="90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79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prezentacji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foto-ogolna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  <p:pic>
        <p:nvPicPr>
          <p:cNvPr id="6" name="Obraz 5" descr="SGH_piramida-ogolna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1" cy="5143500"/>
          </a:xfrm>
          <a:prstGeom prst="rect">
            <a:avLst/>
          </a:prstGeom>
        </p:spPr>
      </p:pic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>
          <a:xfrm>
            <a:off x="1044000" y="4486735"/>
            <a:ext cx="2895600" cy="27384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100">
                <a:solidFill>
                  <a:schemeClr val="bg1"/>
                </a:solidFill>
                <a:latin typeface="Open Sans Light"/>
                <a:cs typeface="Open Sans Light"/>
              </a:defRPr>
            </a:lvl1pPr>
          </a:lstStyle>
          <a:p>
            <a:endParaRPr lang="pl-PL" dirty="0"/>
          </a:p>
        </p:txBody>
      </p:sp>
      <p:pic>
        <p:nvPicPr>
          <p:cNvPr id="9" name="Obraz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41" y="473241"/>
            <a:ext cx="900363" cy="900363"/>
          </a:xfrm>
          <a:prstGeom prst="rect">
            <a:avLst/>
          </a:prstGeom>
        </p:spPr>
      </p:pic>
      <p:sp>
        <p:nvSpPr>
          <p:cNvPr id="10" name="Tytuł 1"/>
          <p:cNvSpPr>
            <a:spLocks noGrp="1"/>
          </p:cNvSpPr>
          <p:nvPr>
            <p:ph type="ctrTitle"/>
          </p:nvPr>
        </p:nvSpPr>
        <p:spPr>
          <a:xfrm>
            <a:off x="1044000" y="2687772"/>
            <a:ext cx="7541112" cy="1102519"/>
          </a:xfrm>
        </p:spPr>
        <p:txBody>
          <a:bodyPr lIns="0" tIns="0" rIns="0" bIns="0" anchor="b" anchorCtr="0">
            <a:noAutofit/>
          </a:bodyPr>
          <a:lstStyle>
            <a:lvl1pPr algn="l">
              <a:defRPr sz="3200" b="1">
                <a:solidFill>
                  <a:srgbClr val="FFFFFF"/>
                </a:solidFill>
                <a:latin typeface="Open Sans Regular"/>
                <a:cs typeface="Open Sans Regular"/>
              </a:defRPr>
            </a:lvl1pPr>
          </a:lstStyle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  <p:sp>
        <p:nvSpPr>
          <p:cNvPr id="11" name="Podtytuł 2"/>
          <p:cNvSpPr>
            <a:spLocks noGrp="1"/>
          </p:cNvSpPr>
          <p:nvPr>
            <p:ph type="subTitle" idx="1"/>
          </p:nvPr>
        </p:nvSpPr>
        <p:spPr>
          <a:xfrm>
            <a:off x="1044000" y="3892070"/>
            <a:ext cx="6400800" cy="58840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Light"/>
                <a:cs typeface="Open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Kliknij, aby edytować styl wzorca podtytułu</a:t>
            </a:r>
          </a:p>
        </p:txBody>
      </p:sp>
    </p:spTree>
    <p:extLst>
      <p:ext uri="{BB962C8B-B14F-4D97-AF65-F5344CB8AC3E}">
        <p14:creationId xmlns:p14="http://schemas.microsoft.com/office/powerpoint/2010/main" val="298268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ytuł rozdział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>
            <a:spLocks noGrp="1"/>
          </p:cNvSpPr>
          <p:nvPr>
            <p:ph type="ctrTitle"/>
          </p:nvPr>
        </p:nvSpPr>
        <p:spPr>
          <a:xfrm>
            <a:off x="1044000" y="3181996"/>
            <a:ext cx="7541112" cy="1102519"/>
          </a:xfrm>
        </p:spPr>
        <p:txBody>
          <a:bodyPr lIns="0" tIns="0" rIns="0" bIns="0" anchor="b" anchorCtr="0">
            <a:noAutofit/>
          </a:bodyPr>
          <a:lstStyle>
            <a:lvl1pPr algn="l">
              <a:defRPr sz="3200" b="1">
                <a:solidFill>
                  <a:srgbClr val="FFFFFF"/>
                </a:solidFill>
                <a:latin typeface="Open Sans Regular"/>
                <a:cs typeface="Open Sans Regular"/>
              </a:defRPr>
            </a:lvl1pPr>
          </a:lstStyle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</p:spTree>
    <p:extLst>
      <p:ext uri="{BB962C8B-B14F-4D97-AF65-F5344CB8AC3E}">
        <p14:creationId xmlns:p14="http://schemas.microsoft.com/office/powerpoint/2010/main" val="427057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1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917999" y="1187302"/>
            <a:ext cx="7773417" cy="314574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910809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lajd 2 kolum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918000" y="1187302"/>
            <a:ext cx="3577800" cy="314574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920624" y="1187302"/>
            <a:ext cx="3766176" cy="314574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209991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eria zdję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  <p:sp>
        <p:nvSpPr>
          <p:cNvPr id="7" name="Symbol zastępczy tekstu 6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1238250"/>
            <a:ext cx="2273300" cy="300038"/>
          </a:xfrm>
        </p:spPr>
        <p:txBody>
          <a:bodyPr anchor="t" anchorCtr="0">
            <a:noAutofit/>
          </a:bodyPr>
          <a:lstStyle>
            <a:lvl1pPr marL="0" indent="0">
              <a:buNone/>
              <a:defRPr sz="1100">
                <a:solidFill>
                  <a:srgbClr val="00748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TYTUŁ ZDJĘCIA</a:t>
            </a:r>
          </a:p>
        </p:txBody>
      </p:sp>
      <p:sp>
        <p:nvSpPr>
          <p:cNvPr id="9" name="Symbol zastępczy obrazu 8"/>
          <p:cNvSpPr>
            <a:spLocks noGrp="1"/>
          </p:cNvSpPr>
          <p:nvPr>
            <p:ph type="pic" sz="quarter" idx="11"/>
          </p:nvPr>
        </p:nvSpPr>
        <p:spPr>
          <a:xfrm>
            <a:off x="917575" y="1538288"/>
            <a:ext cx="2273300" cy="2066925"/>
          </a:xfrm>
        </p:spPr>
        <p:txBody>
          <a:bodyPr/>
          <a:lstStyle/>
          <a:p>
            <a:endParaRPr lang="pl-PL"/>
          </a:p>
        </p:txBody>
      </p:sp>
      <p:sp>
        <p:nvSpPr>
          <p:cNvPr id="11" name="Symbol zastępczy zawartości 10"/>
          <p:cNvSpPr>
            <a:spLocks noGrp="1"/>
          </p:cNvSpPr>
          <p:nvPr>
            <p:ph sz="quarter" idx="12"/>
          </p:nvPr>
        </p:nvSpPr>
        <p:spPr>
          <a:xfrm>
            <a:off x="917575" y="3682872"/>
            <a:ext cx="2273300" cy="611188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2" name="Symbol zastępczy tekstu 6"/>
          <p:cNvSpPr>
            <a:spLocks noGrp="1"/>
          </p:cNvSpPr>
          <p:nvPr>
            <p:ph type="body" sz="quarter" idx="13" hasCustomPrompt="1"/>
          </p:nvPr>
        </p:nvSpPr>
        <p:spPr>
          <a:xfrm>
            <a:off x="3661120" y="1238250"/>
            <a:ext cx="2273300" cy="300038"/>
          </a:xfrm>
        </p:spPr>
        <p:txBody>
          <a:bodyPr anchor="t" anchorCtr="0">
            <a:noAutofit/>
          </a:bodyPr>
          <a:lstStyle>
            <a:lvl1pPr marL="0" indent="0">
              <a:buNone/>
              <a:defRPr sz="1100">
                <a:solidFill>
                  <a:srgbClr val="00748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TYTUŁ ZDJĘCIA</a:t>
            </a:r>
          </a:p>
        </p:txBody>
      </p:sp>
      <p:sp>
        <p:nvSpPr>
          <p:cNvPr id="13" name="Symbol zastępczy obrazu 8"/>
          <p:cNvSpPr>
            <a:spLocks noGrp="1"/>
          </p:cNvSpPr>
          <p:nvPr>
            <p:ph type="pic" sz="quarter" idx="14"/>
          </p:nvPr>
        </p:nvSpPr>
        <p:spPr>
          <a:xfrm>
            <a:off x="3661120" y="1538288"/>
            <a:ext cx="2273300" cy="2066925"/>
          </a:xfrm>
        </p:spPr>
        <p:txBody>
          <a:bodyPr/>
          <a:lstStyle/>
          <a:p>
            <a:endParaRPr lang="pl-PL"/>
          </a:p>
        </p:txBody>
      </p:sp>
      <p:sp>
        <p:nvSpPr>
          <p:cNvPr id="14" name="Symbol zastępczy zawartości 10"/>
          <p:cNvSpPr>
            <a:spLocks noGrp="1"/>
          </p:cNvSpPr>
          <p:nvPr>
            <p:ph sz="quarter" idx="15"/>
          </p:nvPr>
        </p:nvSpPr>
        <p:spPr>
          <a:xfrm>
            <a:off x="3661120" y="3682872"/>
            <a:ext cx="2273300" cy="611188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5" name="Symbol zastępczy tekstu 6"/>
          <p:cNvSpPr>
            <a:spLocks noGrp="1"/>
          </p:cNvSpPr>
          <p:nvPr>
            <p:ph type="body" sz="quarter" idx="16" hasCustomPrompt="1"/>
          </p:nvPr>
        </p:nvSpPr>
        <p:spPr>
          <a:xfrm>
            <a:off x="6404391" y="1238250"/>
            <a:ext cx="2273300" cy="300038"/>
          </a:xfrm>
        </p:spPr>
        <p:txBody>
          <a:bodyPr anchor="t" anchorCtr="0">
            <a:noAutofit/>
          </a:bodyPr>
          <a:lstStyle>
            <a:lvl1pPr marL="0" indent="0">
              <a:buNone/>
              <a:defRPr sz="1100">
                <a:solidFill>
                  <a:srgbClr val="00748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l-PL" dirty="0"/>
              <a:t>TYTUŁ ZDJĘCIA</a:t>
            </a:r>
          </a:p>
        </p:txBody>
      </p:sp>
      <p:sp>
        <p:nvSpPr>
          <p:cNvPr id="16" name="Symbol zastępczy obrazu 8"/>
          <p:cNvSpPr>
            <a:spLocks noGrp="1"/>
          </p:cNvSpPr>
          <p:nvPr>
            <p:ph type="pic" sz="quarter" idx="17"/>
          </p:nvPr>
        </p:nvSpPr>
        <p:spPr>
          <a:xfrm>
            <a:off x="6404391" y="1538288"/>
            <a:ext cx="2273300" cy="2066925"/>
          </a:xfrm>
        </p:spPr>
        <p:txBody>
          <a:bodyPr/>
          <a:lstStyle/>
          <a:p>
            <a:endParaRPr lang="pl-PL"/>
          </a:p>
        </p:txBody>
      </p:sp>
      <p:sp>
        <p:nvSpPr>
          <p:cNvPr id="17" name="Symbol zastępczy zawartości 10"/>
          <p:cNvSpPr>
            <a:spLocks noGrp="1"/>
          </p:cNvSpPr>
          <p:nvPr>
            <p:ph sz="quarter" idx="18"/>
          </p:nvPr>
        </p:nvSpPr>
        <p:spPr>
          <a:xfrm>
            <a:off x="6404391" y="3682872"/>
            <a:ext cx="2273300" cy="611188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611565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wizerunk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  <p:sp>
        <p:nvSpPr>
          <p:cNvPr id="8" name="Symbol zastępczy obrazu 7"/>
          <p:cNvSpPr>
            <a:spLocks noGrp="1"/>
          </p:cNvSpPr>
          <p:nvPr>
            <p:ph type="pic" sz="quarter" idx="10"/>
          </p:nvPr>
        </p:nvSpPr>
        <p:spPr>
          <a:xfrm>
            <a:off x="0" y="1270000"/>
            <a:ext cx="4135438" cy="2840038"/>
          </a:xfrm>
        </p:spPr>
        <p:txBody>
          <a:bodyPr/>
          <a:lstStyle/>
          <a:p>
            <a:endParaRPr lang="pl-PL"/>
          </a:p>
        </p:txBody>
      </p:sp>
      <p:sp>
        <p:nvSpPr>
          <p:cNvPr id="10" name="Symbol zastępczy tekstu 9"/>
          <p:cNvSpPr>
            <a:spLocks noGrp="1"/>
          </p:cNvSpPr>
          <p:nvPr>
            <p:ph type="body" sz="quarter" idx="11"/>
          </p:nvPr>
        </p:nvSpPr>
        <p:spPr>
          <a:xfrm>
            <a:off x="4562475" y="1270000"/>
            <a:ext cx="4129088" cy="2840038"/>
          </a:xfr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92112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918000" y="387895"/>
            <a:ext cx="7773417" cy="67533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918000" y="1043751"/>
            <a:ext cx="7768800" cy="339447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8" name="PoleTekstowe 7"/>
          <p:cNvSpPr txBox="1"/>
          <p:nvPr userDrawn="1"/>
        </p:nvSpPr>
        <p:spPr>
          <a:xfrm>
            <a:off x="7896328" y="4586443"/>
            <a:ext cx="79508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l-PL" sz="800" dirty="0" err="1">
                <a:solidFill>
                  <a:srgbClr val="007481"/>
                </a:solidFill>
                <a:latin typeface="Open Sans Regular"/>
                <a:cs typeface="Open Sans Regular"/>
              </a:rPr>
              <a:t>www.sgh.waw.pl</a:t>
            </a:r>
            <a:endParaRPr lang="pl-PL" sz="800" dirty="0">
              <a:solidFill>
                <a:srgbClr val="007481"/>
              </a:solidFill>
              <a:latin typeface="Open Sans Regular"/>
              <a:cs typeface="Open Sans Regular"/>
            </a:endParaRPr>
          </a:p>
        </p:txBody>
      </p:sp>
      <p:pic>
        <p:nvPicPr>
          <p:cNvPr id="9" name="Obraz 8" descr="SGH_male-logo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63" y="4601068"/>
            <a:ext cx="395520" cy="16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1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2" r:id="rId4"/>
    <p:sldLayoutId id="2147483662" r:id="rId5"/>
    <p:sldLayoutId id="2147483663" r:id="rId6"/>
    <p:sldLayoutId id="2147483654" r:id="rId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2"/>
          </a:solidFill>
          <a:latin typeface="Open Sans Regular"/>
          <a:ea typeface="+mj-ea"/>
          <a:cs typeface="Open Sans Regular"/>
        </a:defRPr>
      </a:lvl1pPr>
    </p:titleStyle>
    <p:bodyStyle>
      <a:lvl1pPr marL="216000" indent="-216000" algn="l" defTabSz="457200" rtl="0" eaLnBrk="1" latinLnBrk="0" hangingPunct="1">
        <a:lnSpc>
          <a:spcPct val="112000"/>
        </a:lnSpc>
        <a:spcBef>
          <a:spcPts val="0"/>
        </a:spcBef>
        <a:buClr>
          <a:schemeClr val="tx2"/>
        </a:buClr>
        <a:buFont typeface="Arial"/>
        <a:buChar char="•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–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•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–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»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918000" y="387895"/>
            <a:ext cx="7773417" cy="6753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l-PL" dirty="0"/>
              <a:t>Kliknij, aby </a:t>
            </a:r>
            <a:r>
              <a:rPr lang="pl-PL" dirty="0" err="1"/>
              <a:t>edyt</a:t>
            </a:r>
            <a:r>
              <a:rPr lang="pl-PL" dirty="0"/>
              <a:t>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918000" y="1043751"/>
            <a:ext cx="7768800" cy="33944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8" name="PoleTekstowe 7"/>
          <p:cNvSpPr txBox="1"/>
          <p:nvPr userDrawn="1"/>
        </p:nvSpPr>
        <p:spPr>
          <a:xfrm>
            <a:off x="7896328" y="4586443"/>
            <a:ext cx="79508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l-PL" sz="800" dirty="0" err="1">
                <a:solidFill>
                  <a:srgbClr val="007481"/>
                </a:solidFill>
                <a:latin typeface="Open Sans Regular"/>
                <a:cs typeface="Open Sans Regular"/>
              </a:rPr>
              <a:t>www.sgh.waw.pl</a:t>
            </a:r>
            <a:endParaRPr lang="pl-PL" sz="800" dirty="0">
              <a:solidFill>
                <a:srgbClr val="007481"/>
              </a:solidFill>
              <a:latin typeface="Open Sans Regular"/>
              <a:cs typeface="Open Sans Regular"/>
            </a:endParaRPr>
          </a:p>
        </p:txBody>
      </p:sp>
      <p:pic>
        <p:nvPicPr>
          <p:cNvPr id="9" name="Obraz 8" descr="SGH_male-logo.pn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63" y="4601068"/>
            <a:ext cx="395520" cy="16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04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2"/>
          </a:solidFill>
          <a:latin typeface="Open Sans Regular"/>
          <a:ea typeface="+mj-ea"/>
          <a:cs typeface="Open Sans Regular"/>
        </a:defRPr>
      </a:lvl1pPr>
    </p:titleStyle>
    <p:bodyStyle>
      <a:lvl1pPr marL="216000" indent="-216000" algn="l" defTabSz="457200" rtl="0" eaLnBrk="1" latinLnBrk="0" hangingPunct="1">
        <a:lnSpc>
          <a:spcPct val="112000"/>
        </a:lnSpc>
        <a:spcBef>
          <a:spcPts val="0"/>
        </a:spcBef>
        <a:buClr>
          <a:schemeClr val="tx2"/>
        </a:buClr>
        <a:buFont typeface="Arial"/>
        <a:buChar char="•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–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•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–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lnSpc>
          <a:spcPct val="112000"/>
        </a:lnSpc>
        <a:spcBef>
          <a:spcPts val="0"/>
        </a:spcBef>
        <a:buFont typeface="Arial"/>
        <a:buChar char="»"/>
        <a:defRPr sz="1700" kern="1200">
          <a:solidFill>
            <a:schemeClr val="tx1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 descr="przykładowy tytuł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l-PL" sz="2400" dirty="0"/>
              <a:t>Klasyfikacja sygnału elektrokardiograficznego              w czasie rzeczywistym przy użyciu głębokich sieci neuronowych i architektury strumieniowej  </a:t>
            </a:r>
          </a:p>
        </p:txBody>
      </p:sp>
      <p:sp>
        <p:nvSpPr>
          <p:cNvPr id="3" name="Podtytuł 2" descr="przykładowy podtytuł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l-PL" dirty="0"/>
              <a:t>Justyna Weber, 141189  </a:t>
            </a:r>
            <a:br>
              <a:rPr lang="pl-PL" dirty="0"/>
            </a:br>
            <a:r>
              <a:rPr lang="pl-PL" dirty="0"/>
              <a:t>Praca magisterska</a:t>
            </a:r>
            <a:r>
              <a:rPr lang="pl-PL" baseline="30000" dirty="0"/>
              <a:t> </a:t>
            </a:r>
            <a:r>
              <a:rPr lang="pl-PL" dirty="0"/>
              <a:t>pod kierunkiem naukowym dr Sebastiana Zająca </a:t>
            </a:r>
          </a:p>
          <a:p>
            <a:endParaRPr lang="pl-PL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Czerwiec 2026, Warszawa</a:t>
            </a:r>
          </a:p>
        </p:txBody>
      </p:sp>
    </p:spTree>
    <p:extLst>
      <p:ext uri="{BB962C8B-B14F-4D97-AF65-F5344CB8AC3E}">
        <p14:creationId xmlns:p14="http://schemas.microsoft.com/office/powerpoint/2010/main" val="726074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1E45D-DFC0-500F-CC0E-40E763D7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 descr="przykładowy tytuł">
            <a:extLst>
              <a:ext uri="{FF2B5EF4-FFF2-40B4-BE49-F238E27FC236}">
                <a16:creationId xmlns:a16="http://schemas.microsoft.com/office/drawing/2014/main" id="{9DA0A746-5A3D-4B37-1182-249B78BB1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127" y="399618"/>
            <a:ext cx="7541112" cy="1102519"/>
          </a:xfrm>
        </p:spPr>
        <p:txBody>
          <a:bodyPr/>
          <a:lstStyle/>
          <a:p>
            <a:r>
              <a:rPr lang="pl-PL" dirty="0"/>
              <a:t>Wprowadzenie i motywacja </a:t>
            </a:r>
            <a:br>
              <a:rPr lang="pl-PL" dirty="0"/>
            </a:br>
            <a:r>
              <a:rPr lang="pl-PL" dirty="0"/>
              <a:t>biznesowo-medyczna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2843B24-EB52-01D9-C56D-46F680798329}"/>
              </a:ext>
            </a:extLst>
          </p:cNvPr>
          <p:cNvSpPr txBox="1"/>
          <p:nvPr/>
        </p:nvSpPr>
        <p:spPr>
          <a:xfrm>
            <a:off x="609601" y="1794165"/>
            <a:ext cx="76776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pl-PL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Problem zdrowia publicznego</a:t>
            </a:r>
          </a:p>
          <a:p>
            <a:r>
              <a:rPr lang="pl-PL" sz="160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	Choroby układu krążenia odpowiadają za ok. 32% zgonów na świecie</a:t>
            </a:r>
            <a:endParaRPr kumimoji="0" lang="pl-PL" sz="16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160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Zjawisko „Silver Tsunami”</a:t>
            </a:r>
          </a:p>
          <a:p>
            <a:r>
              <a:rPr lang="pl-PL" sz="160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	starzenie się społeczeństw przeciąża opiekę zdrowotną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160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Koszt ekonomiczny</a:t>
            </a:r>
          </a:p>
          <a:p>
            <a:pPr lvl="1"/>
            <a:r>
              <a:rPr lang="pl-PL" sz="160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leczenie chorób serca kosztuje Unię Europejską 169 mld euro rocznie</a:t>
            </a:r>
          </a:p>
          <a:p>
            <a:endParaRPr lang="pl-PL" sz="1600" dirty="0">
              <a:solidFill>
                <a:srgbClr val="FFFFFF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pl-PL" sz="160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Rozwiązanie: Przesunięcie ciężaru diagnostyki ze szpitali do </a:t>
            </a:r>
            <a:r>
              <a:rPr lang="pl-PL" sz="1600" dirty="0" err="1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telemonitoringu</a:t>
            </a:r>
            <a:r>
              <a:rPr lang="pl-PL" sz="160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domowego i urządzeń </a:t>
            </a:r>
            <a:r>
              <a:rPr lang="pl-PL" sz="1600" dirty="0" err="1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wearable</a:t>
            </a:r>
            <a:r>
              <a:rPr lang="pl-PL" sz="1600" dirty="0">
                <a:solidFill>
                  <a:srgbClr val="FFFF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sz="1200" dirty="0"/>
          </a:p>
        </p:txBody>
      </p:sp>
    </p:spTree>
    <p:extLst>
      <p:ext uri="{BB962C8B-B14F-4D97-AF65-F5344CB8AC3E}">
        <p14:creationId xmlns:p14="http://schemas.microsoft.com/office/powerpoint/2010/main" val="3621555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 descr="przykładowy tytu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Cel, zakres i wyzwania analityczne</a:t>
            </a:r>
          </a:p>
        </p:txBody>
      </p:sp>
      <p:sp>
        <p:nvSpPr>
          <p:cNvPr id="3" name="Symbol zastępczy zawartości 2" descr="przykładowy tekst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/>
              <a:buAutoNum type="arabicPeriod"/>
            </a:pPr>
            <a:r>
              <a:rPr lang="pl-PL" dirty="0"/>
              <a:t>Cel - zaprojektowanie, implementacja i ewaluacja potoku strumieniowego oraz porównanie modeli 1D-ResNet i CNN-</a:t>
            </a:r>
            <a:r>
              <a:rPr lang="pl-PL" dirty="0" err="1"/>
              <a:t>BiLSTM</a:t>
            </a:r>
            <a:r>
              <a:rPr lang="pl-PL" dirty="0"/>
              <a:t>,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Wyzwanie 1 - Skrajna asymetria bazy MIT-BIH klasa prawidłowa (N) stanowi ponad 92% danych,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Wyzwanie 2 - Zastosowanie rygorystycznego protokołu podziału pacjentów (</a:t>
            </a:r>
            <a:r>
              <a:rPr lang="pl-PL" i="1" dirty="0" err="1"/>
              <a:t>inter-patient</a:t>
            </a:r>
            <a:r>
              <a:rPr lang="pl-PL" i="1" dirty="0"/>
              <a:t> </a:t>
            </a:r>
            <a:r>
              <a:rPr lang="pl-PL" i="1" dirty="0" err="1"/>
              <a:t>protocol</a:t>
            </a:r>
            <a:r>
              <a:rPr lang="pl-PL" dirty="0"/>
              <a:t> de </a:t>
            </a:r>
            <a:r>
              <a:rPr lang="pl-PL" dirty="0" err="1"/>
              <a:t>Chazala</a:t>
            </a:r>
            <a:r>
              <a:rPr lang="pl-PL" dirty="0"/>
              <a:t>) w celu eliminacji wycieku danych.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 err="1"/>
          </a:p>
        </p:txBody>
      </p:sp>
    </p:spTree>
    <p:extLst>
      <p:ext uri="{BB962C8B-B14F-4D97-AF65-F5344CB8AC3E}">
        <p14:creationId xmlns:p14="http://schemas.microsoft.com/office/powerpoint/2010/main" val="99068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B0A04-90C8-9AC1-50B0-B87072F0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 descr="przykładowy tytuł">
            <a:extLst>
              <a:ext uri="{FF2B5EF4-FFF2-40B4-BE49-F238E27FC236}">
                <a16:creationId xmlns:a16="http://schemas.microsoft.com/office/drawing/2014/main" id="{BFC0D85D-0A1A-49D0-63FF-64DE22355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Architektura systemu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848E516-DC01-E4F4-602A-6B270751E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91" y="1214957"/>
            <a:ext cx="5579745" cy="304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83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 descr="przykładowy tytuł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Przetwarzanie wstępne: Algorytm Pan-Tompkinsa  </a:t>
            </a:r>
            <a:br>
              <a:rPr lang="pl-PL" dirty="0"/>
            </a:br>
            <a:r>
              <a:rPr lang="pl-PL" dirty="0"/>
              <a:t>i standaryzacja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CA8ED339-B9B6-237B-00DD-C776C5FE90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84" y="1423555"/>
            <a:ext cx="4509887" cy="272314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Symbol zastępczy zawartości 6">
                <a:extLst>
                  <a:ext uri="{FF2B5EF4-FFF2-40B4-BE49-F238E27FC236}">
                    <a16:creationId xmlns:a16="http://schemas.microsoft.com/office/drawing/2014/main" id="{2E8E9795-4796-4750-2CCD-7920552480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130371" y="1426293"/>
                <a:ext cx="3630318" cy="3145745"/>
              </a:xfrm>
            </p:spPr>
            <p:txBody>
              <a:bodyPr>
                <a:normAutofit/>
              </a:bodyPr>
              <a:lstStyle/>
              <a:p>
                <a:r>
                  <a:rPr lang="pl-PL" sz="1400" dirty="0"/>
                  <a:t>System analizuje dane w paczkach co 50 próbek (ok. 139 ms), unikając przeciążenia CPU,</a:t>
                </a:r>
              </a:p>
              <a:p>
                <a:r>
                  <a:rPr lang="pl-PL" sz="1400" dirty="0"/>
                  <a:t>Algorytm Pan-Tompkinsa (filtracja pasmowa 5-15 </a:t>
                </a:r>
                <a:r>
                  <a:rPr lang="pl-PL" sz="1400" dirty="0" err="1"/>
                  <a:t>Hz</a:t>
                </a:r>
                <a:r>
                  <a:rPr lang="pl-PL" sz="1400" dirty="0"/>
                  <a:t>, różniczkowanie, </a:t>
                </a:r>
                <a:r>
                  <a:rPr lang="pl-PL" sz="1400" dirty="0" err="1"/>
                  <a:t>kwadratowanie</a:t>
                </a:r>
                <a:r>
                  <a:rPr lang="pl-PL" sz="1400" dirty="0"/>
                  <a:t>, całkowanie),</a:t>
                </a:r>
              </a:p>
              <a:p>
                <a:r>
                  <a:rPr lang="pl-PL" sz="1400" dirty="0"/>
                  <a:t>Wycinanie segmentów o długości 360 próbek wokół załamka R,</a:t>
                </a:r>
              </a:p>
              <a:p>
                <a:r>
                  <a:rPr lang="pl-PL" sz="1400" dirty="0"/>
                  <a:t>Standaryzacja Z-</a:t>
                </a:r>
                <a:r>
                  <a:rPr lang="pl-PL" sz="1400" dirty="0" err="1"/>
                  <a:t>Score</a:t>
                </a:r>
                <a:r>
                  <a:rPr lang="pl-PL" sz="1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1200" i="1"/>
                          </m:ctrlPr>
                        </m:sSubPr>
                        <m:e>
                          <m:r>
                            <a:rPr lang="pl-PL" sz="1200" i="1"/>
                            <m:t>𝑋</m:t>
                          </m:r>
                        </m:e>
                        <m:sub>
                          <m:r>
                            <a:rPr lang="pl-PL" sz="1200" i="1"/>
                            <m:t>𝑠𝑐𝑎𝑙𝑒𝑑</m:t>
                          </m:r>
                        </m:sub>
                      </m:sSub>
                      <m:r>
                        <a:rPr lang="pl-PL" sz="1200" i="1"/>
                        <m:t>=</m:t>
                      </m:r>
                      <m:f>
                        <m:fPr>
                          <m:ctrlPr>
                            <a:rPr lang="pl-PL" sz="1200" i="1"/>
                          </m:ctrlPr>
                        </m:fPr>
                        <m:num>
                          <m:r>
                            <a:rPr lang="pl-PL" sz="1200" i="1"/>
                            <m:t>𝑋</m:t>
                          </m:r>
                          <m:r>
                            <a:rPr lang="pl-PL" sz="1200" i="1"/>
                            <m:t>−</m:t>
                          </m:r>
                          <m:r>
                            <m:rPr>
                              <m:sty m:val="p"/>
                            </m:rPr>
                            <a:rPr lang="pl-PL" sz="1200"/>
                            <m:t>μ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l-PL" sz="1200"/>
                            <m:t>σ</m:t>
                          </m:r>
                          <m:r>
                            <a:rPr lang="pl-PL" sz="1200"/>
                            <m:t>+</m:t>
                          </m:r>
                          <m:r>
                            <m:rPr>
                              <m:sty m:val="p"/>
                            </m:rPr>
                            <a:rPr lang="pl-PL" sz="1200"/>
                            <m:t>ϵ</m:t>
                          </m:r>
                        </m:den>
                      </m:f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7" name="Symbol zastępczy zawartości 6">
                <a:extLst>
                  <a:ext uri="{FF2B5EF4-FFF2-40B4-BE49-F238E27FC236}">
                    <a16:creationId xmlns:a16="http://schemas.microsoft.com/office/drawing/2014/main" id="{2E8E9795-4796-4750-2CCD-792055248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30371" y="1426293"/>
                <a:ext cx="3630318" cy="3145745"/>
              </a:xfrm>
              <a:blipFill>
                <a:blip r:embed="rId3"/>
                <a:stretch>
                  <a:fillRect l="-2857" t="-1550" r="-235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031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5E24-36D3-2863-22C8-BFEB8C9C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 descr="przykładowy tytuł">
            <a:extLst>
              <a:ext uri="{FF2B5EF4-FFF2-40B4-BE49-F238E27FC236}">
                <a16:creationId xmlns:a16="http://schemas.microsoft.com/office/drawing/2014/main" id="{A3E4CBBF-EFFC-2696-82FF-28453D9A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500" dirty="0"/>
              <a:t>Architektura testowanych modeli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Symbol zastępczy zawartości 4" descr="przykładowy tekst">
                <a:extLst>
                  <a:ext uri="{FF2B5EF4-FFF2-40B4-BE49-F238E27FC236}">
                    <a16:creationId xmlns:a16="http://schemas.microsoft.com/office/drawing/2014/main" id="{DAAD76DC-1215-78D8-7075-B37EBD0A7E0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858904" y="1360812"/>
                <a:ext cx="4001077" cy="31448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pl-PL" sz="1600" b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Model 2: CNN-</a:t>
                </a:r>
                <a:r>
                  <a:rPr lang="pl-PL" sz="1600" b="1" dirty="0" err="1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BiLSTM</a:t>
                </a:r>
                <a:r>
                  <a:rPr lang="pl-PL" sz="1600" b="1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(Model Hybrydowy)</a:t>
                </a:r>
              </a:p>
              <a:p>
                <a:pPr marL="0" indent="0">
                  <a:buNone/>
                </a:pPr>
                <a:endParaRPr lang="pl-PL" sz="1600" b="1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r>
                  <a:rPr lang="pl-PL" sz="16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Warstwy splotowe (CNN </a:t>
                </a:r>
                <a:r>
                  <a:rPr lang="pl-PL" sz="1600" dirty="0" err="1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stem</a:t>
                </a:r>
                <a:r>
                  <a:rPr lang="pl-PL" sz="16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) jako ekstraktor cech lokalnych,</a:t>
                </a:r>
              </a:p>
              <a:p>
                <a:r>
                  <a:rPr lang="pl-PL" sz="16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Dwukierunkowy LSTM (</a:t>
                </a:r>
                <a:r>
                  <a:rPr lang="pl-PL" sz="1600" dirty="0" err="1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BiLSTM</a:t>
                </a:r>
                <a:r>
                  <a:rPr lang="pl-PL" sz="16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) do analizy kontekstu czasowego,</a:t>
                </a:r>
              </a:p>
              <a:p>
                <a:r>
                  <a:rPr lang="pl-PL" sz="16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Analiza przyczynowa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16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pl-PL" sz="16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pl-PL" sz="1600" b="0" i="1" smtClean="0">
                        <a:latin typeface="Cambria Math" panose="02040503050406030204" pitchFamily="18" charset="0"/>
                      </a:rPr>
                      <m:t>𝑄𝑅𝑆</m:t>
                    </m:r>
                    <m:r>
                      <a:rPr lang="pl-PL" sz="1600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pl-PL" sz="1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l-PL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l-PL" sz="1600" dirty="0"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 i retrospektywna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1600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16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pl-PL" sz="1600" b="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pl-PL" sz="1600" b="0" i="1">
                            <a:latin typeface="Cambria Math" panose="02040503050406030204" pitchFamily="18" charset="0"/>
                          </a:rPr>
                          <m:t>𝑄𝑅𝑆</m:t>
                        </m:r>
                        <m:r>
                          <a:rPr lang="pl-PL" sz="1600" b="0" i="1">
                            <a:latin typeface="Cambria Math" panose="02040503050406030204" pitchFamily="18" charset="0"/>
                          </a:rPr>
                          <m:t> →</m:t>
                        </m:r>
                        <m:r>
                          <a:rPr lang="pl-PL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pl-PL" sz="16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l-PL" sz="16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</mc:Choice>
        <mc:Fallback>
          <p:sp>
            <p:nvSpPr>
              <p:cNvPr id="6" name="Symbol zastępczy zawartości 4" descr="przykładowy tekst">
                <a:extLst>
                  <a:ext uri="{FF2B5EF4-FFF2-40B4-BE49-F238E27FC236}">
                    <a16:creationId xmlns:a16="http://schemas.microsoft.com/office/drawing/2014/main" id="{DAAD76DC-1215-78D8-7075-B37EBD0A7E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858904" y="1360812"/>
                <a:ext cx="4001077" cy="3144838"/>
              </a:xfrm>
              <a:blipFill>
                <a:blip r:embed="rId2"/>
                <a:stretch>
                  <a:fillRect l="-3049" t="-1357" r="-442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ymbol zastępczy zawartości 4" descr="przykładowy tekst">
            <a:extLst>
              <a:ext uri="{FF2B5EF4-FFF2-40B4-BE49-F238E27FC236}">
                <a16:creationId xmlns:a16="http://schemas.microsoft.com/office/drawing/2014/main" id="{B1F2E10D-03B9-1EF1-B034-BEA9654FE0C8}"/>
              </a:ext>
            </a:extLst>
          </p:cNvPr>
          <p:cNvSpPr txBox="1">
            <a:spLocks/>
          </p:cNvSpPr>
          <p:nvPr/>
        </p:nvSpPr>
        <p:spPr>
          <a:xfrm>
            <a:off x="803631" y="1360812"/>
            <a:ext cx="4001077" cy="314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Clr>
                <a:schemeClr val="tx2"/>
              </a:buClr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1pPr>
            <a:lvl2pPr marL="742950" indent="-28575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2pPr>
            <a:lvl3pPr marL="11430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3pPr>
            <a:lvl4pPr marL="16002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–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4pPr>
            <a:lvl5pPr marL="2057400" indent="-2286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/>
              <a:buChar char="»"/>
              <a:defRPr sz="1700" kern="1200">
                <a:solidFill>
                  <a:schemeClr val="tx1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pl-PL" altLang="pl-PL" sz="16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Model 1: 1D-ResNet (Sieć Rezydualna)</a:t>
            </a:r>
          </a:p>
          <a:p>
            <a:pPr marL="0" indent="0">
              <a:buFont typeface="Arial"/>
              <a:buNone/>
            </a:pPr>
            <a:endParaRPr lang="pl-PL" sz="16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pl-PL" altLang="pl-PL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Jednowymiarowe sploty FIR wzdłuż osi czasu</a:t>
            </a:r>
            <a:r>
              <a:rPr lang="pl-PL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</a:t>
            </a:r>
          </a:p>
          <a:p>
            <a:r>
              <a:rPr lang="pl-PL" altLang="pl-PL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Połączenia skrótowe (</a:t>
            </a:r>
            <a:r>
              <a:rPr lang="pl-PL" altLang="pl-PL" sz="1600" i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Skip </a:t>
            </a:r>
            <a:r>
              <a:rPr lang="pl-PL" altLang="pl-PL" sz="1600" i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Connections</a:t>
            </a:r>
            <a:r>
              <a:rPr lang="pl-PL" altLang="pl-PL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stabilizujące gradient</a:t>
            </a:r>
            <a:r>
              <a:rPr lang="pl-PL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</a:t>
            </a:r>
          </a:p>
          <a:p>
            <a:r>
              <a:rPr lang="pl-PL" altLang="pl-PL"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Konwolucje</a:t>
            </a:r>
            <a:r>
              <a:rPr lang="pl-PL" altLang="pl-PL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rozszerzone (</a:t>
            </a:r>
            <a:r>
              <a:rPr lang="pl-PL" altLang="pl-PL" sz="1600" i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Dilated</a:t>
            </a:r>
            <a:r>
              <a:rPr lang="pl-PL" altLang="pl-PL" sz="1600" i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l-PL" altLang="pl-PL" sz="1600" i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Convolutions</a:t>
            </a:r>
            <a:r>
              <a:rPr lang="pl-PL" altLang="pl-PL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zwiększające pole recepcyjne.</a:t>
            </a:r>
          </a:p>
          <a:p>
            <a:pPr marL="0" indent="0">
              <a:buNone/>
            </a:pPr>
            <a:endParaRPr lang="pl-PL" sz="16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F6B61EE-DFF1-F97F-FDEC-81E22D7E6799}"/>
              </a:ext>
            </a:extLst>
          </p:cNvPr>
          <p:cNvSpPr txBox="1"/>
          <p:nvPr/>
        </p:nvSpPr>
        <p:spPr>
          <a:xfrm>
            <a:off x="918000" y="4058554"/>
            <a:ext cx="7689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Kompensacja </a:t>
            </a:r>
            <a:r>
              <a:rPr lang="pl-PL"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imbalansu</a:t>
            </a:r>
            <a:r>
              <a:rPr lang="pl-PL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 Dynamiczne ważenie funkcji kosztu (</a:t>
            </a:r>
            <a:r>
              <a:rPr lang="pl-PL"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class</a:t>
            </a:r>
            <a:r>
              <a:rPr lang="pl-PL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l-PL" sz="16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weighting</a:t>
            </a:r>
            <a:r>
              <a:rPr lang="pl-PL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43089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 descr="przykładowy tytuł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Wyniki eksperymentalne na zbiorze testowym DS2 </a:t>
            </a:r>
          </a:p>
        </p:txBody>
      </p:sp>
      <p:sp>
        <p:nvSpPr>
          <p:cNvPr id="6" name="Symbol zastępczy tekstu 5" descr="przykładowy tytuł obrazka"/>
          <p:cNvSpPr>
            <a:spLocks noGrp="1"/>
          </p:cNvSpPr>
          <p:nvPr>
            <p:ph type="body" sz="quarter" idx="10"/>
          </p:nvPr>
        </p:nvSpPr>
        <p:spPr>
          <a:xfrm>
            <a:off x="917574" y="1238250"/>
            <a:ext cx="4859771" cy="300038"/>
          </a:xfrm>
        </p:spPr>
        <p:txBody>
          <a:bodyPr/>
          <a:lstStyle/>
          <a:p>
            <a:r>
              <a:rPr lang="pl-PL" sz="1400" b="1" i="1" dirty="0"/>
              <a:t>Zbiorcze porównanie metryk efektywności testowanych modeli</a:t>
            </a:r>
            <a:endParaRPr lang="pl-PL" sz="1400" dirty="0"/>
          </a:p>
        </p:txBody>
      </p:sp>
      <p:graphicFrame>
        <p:nvGraphicFramePr>
          <p:cNvPr id="28" name="Tabela 27">
            <a:extLst>
              <a:ext uri="{FF2B5EF4-FFF2-40B4-BE49-F238E27FC236}">
                <a16:creationId xmlns:a16="http://schemas.microsoft.com/office/drawing/2014/main" id="{A93FE7A6-BABD-B54D-8530-2D5F768E6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504394"/>
              </p:ext>
            </p:extLst>
          </p:nvPr>
        </p:nvGraphicFramePr>
        <p:xfrm>
          <a:off x="918000" y="1914824"/>
          <a:ext cx="5573395" cy="14290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7375">
                  <a:extLst>
                    <a:ext uri="{9D8B030D-6E8A-4147-A177-3AD203B41FA5}">
                      <a16:colId xmlns:a16="http://schemas.microsoft.com/office/drawing/2014/main" val="1353083474"/>
                    </a:ext>
                  </a:extLst>
                </a:gridCol>
                <a:gridCol w="1858010">
                  <a:extLst>
                    <a:ext uri="{9D8B030D-6E8A-4147-A177-3AD203B41FA5}">
                      <a16:colId xmlns:a16="http://schemas.microsoft.com/office/drawing/2014/main" val="2508272265"/>
                    </a:ext>
                  </a:extLst>
                </a:gridCol>
                <a:gridCol w="1858010">
                  <a:extLst>
                    <a:ext uri="{9D8B030D-6E8A-4147-A177-3AD203B41FA5}">
                      <a16:colId xmlns:a16="http://schemas.microsoft.com/office/drawing/2014/main" val="35109460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Metryka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 dirty="0" err="1">
                          <a:effectLst/>
                        </a:rPr>
                        <a:t>ResNet</a:t>
                      </a:r>
                      <a:r>
                        <a:rPr lang="pl-PL" sz="1000" kern="100" dirty="0">
                          <a:effectLst/>
                        </a:rPr>
                        <a:t> (1D-CNN)</a:t>
                      </a:r>
                      <a:endParaRPr lang="pl-PL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BiLSTM (CNN+LSTM)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8107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Ogólna dokładność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72,7%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 dirty="0">
                          <a:effectLst/>
                        </a:rPr>
                        <a:t>77,2%    </a:t>
                      </a:r>
                      <a:endParaRPr lang="pl-PL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3672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N - czułość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75,2%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80,3%   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177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V - czułość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78,9%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88,6%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4499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S - czułość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4,7%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5,1%  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3352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F - czułość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68,6%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 dirty="0">
                          <a:effectLst/>
                        </a:rPr>
                        <a:t>9,4%   </a:t>
                      </a:r>
                      <a:endParaRPr lang="pl-PL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1622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Q - czułość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>
                          <a:effectLst/>
                        </a:rPr>
                        <a:t>0%</a:t>
                      </a:r>
                      <a:endParaRPr lang="pl-PL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l-PL" sz="1000" kern="100" dirty="0">
                          <a:effectLst/>
                        </a:rPr>
                        <a:t>0%</a:t>
                      </a:r>
                      <a:endParaRPr lang="pl-PL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9011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932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1" descr="przykładowy tytu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Studium Przypadku dla Klasy N</a:t>
            </a:r>
          </a:p>
        </p:txBody>
      </p:sp>
      <p:sp>
        <p:nvSpPr>
          <p:cNvPr id="14" name="Symbol zastępczy tekstu 13" descr="przykładowa treść"/>
          <p:cNvSpPr>
            <a:spLocks noGrp="1"/>
          </p:cNvSpPr>
          <p:nvPr>
            <p:ph type="body" sz="quarter" idx="11"/>
          </p:nvPr>
        </p:nvSpPr>
        <p:spPr>
          <a:xfrm>
            <a:off x="4562329" y="1514765"/>
            <a:ext cx="4129088" cy="2840038"/>
          </a:xfrm>
        </p:spPr>
        <p:txBody>
          <a:bodyPr>
            <a:normAutofit fontScale="85000" lnSpcReduction="10000"/>
          </a:bodyPr>
          <a:lstStyle/>
          <a:p>
            <a:r>
              <a:rPr lang="pl-PL" dirty="0"/>
              <a:t>Sekwencja miarowych, prawidłowych </a:t>
            </a:r>
            <a:r>
              <a:rPr lang="pl-PL" dirty="0" err="1"/>
              <a:t>pobudzeń</a:t>
            </a:r>
            <a:r>
              <a:rPr lang="pl-PL" dirty="0"/>
              <a:t> zatokowych,</a:t>
            </a:r>
            <a:endParaRPr lang="it-IT" dirty="0"/>
          </a:p>
          <a:p>
            <a:r>
              <a:rPr lang="pl-PL" dirty="0"/>
              <a:t>1D-ResNet: Wyjątkowa stabilność rytmu podstawowego (pewność predykcji: 1.00, 1.00, 1.00, 0.89),</a:t>
            </a:r>
          </a:p>
          <a:p>
            <a:r>
              <a:rPr lang="pl-PL" dirty="0"/>
              <a:t>CNN-</a:t>
            </a:r>
            <a:r>
              <a:rPr lang="pl-PL" dirty="0" err="1"/>
              <a:t>BiLSTM</a:t>
            </a:r>
            <a:r>
              <a:rPr lang="pl-PL" dirty="0"/>
              <a:t>: Tendencja do silnej destabilizacji i </a:t>
            </a:r>
            <a:r>
              <a:rPr lang="pl-PL" dirty="0" err="1"/>
              <a:t>nadklasyfikacji</a:t>
            </a:r>
            <a:r>
              <a:rPr lang="pl-PL" dirty="0"/>
              <a:t> – błędne przypisanie 3 z 4 </a:t>
            </a:r>
            <a:r>
              <a:rPr lang="pl-PL" dirty="0" err="1"/>
              <a:t>pobudzeń</a:t>
            </a:r>
            <a:r>
              <a:rPr lang="pl-PL" dirty="0"/>
              <a:t> do klasy mniejszościowej Q.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dirty="0"/>
              <a:t>Uboczny efekt silnego ważenia klas w strukturze rekurencyjnej, </a:t>
            </a:r>
            <a:r>
              <a:rPr lang="pl-PL" dirty="0" err="1"/>
              <a:t>hiperwrażliwość</a:t>
            </a:r>
            <a:r>
              <a:rPr lang="pl-PL" dirty="0"/>
              <a:t> na minimalny szum pacjenta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6BAC3EB6-DC97-D737-23F1-8B1E527358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9260443-3396-7DD5-ABF2-CF1DB07923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9" b="4384"/>
          <a:stretch>
            <a:fillRect/>
          </a:stretch>
        </p:blipFill>
        <p:spPr bwMode="auto">
          <a:xfrm>
            <a:off x="-10255" y="1318491"/>
            <a:ext cx="4291025" cy="29318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0837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F9AAC-D54D-27F5-D70C-D05AE1459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1" descr="przykładowy tytuł">
            <a:extLst>
              <a:ext uri="{FF2B5EF4-FFF2-40B4-BE49-F238E27FC236}">
                <a16:creationId xmlns:a16="http://schemas.microsoft.com/office/drawing/2014/main" id="{4A05D2A0-4A35-48BE-CE35-5153549FC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Studium Przypadku dla Klasy V</a:t>
            </a:r>
          </a:p>
        </p:txBody>
      </p:sp>
      <p:sp>
        <p:nvSpPr>
          <p:cNvPr id="14" name="Symbol zastępczy tekstu 13" descr="przykładowa treść">
            <a:extLst>
              <a:ext uri="{FF2B5EF4-FFF2-40B4-BE49-F238E27FC236}">
                <a16:creationId xmlns:a16="http://schemas.microsoft.com/office/drawing/2014/main" id="{FD5B6F8F-12D2-F747-82AC-1250E08C0B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2329" y="1512454"/>
            <a:ext cx="4129088" cy="2840038"/>
          </a:xfrm>
        </p:spPr>
        <p:txBody>
          <a:bodyPr>
            <a:normAutofit fontScale="85000" lnSpcReduction="10000"/>
          </a:bodyPr>
          <a:lstStyle/>
          <a:p>
            <a:r>
              <a:rPr lang="pl-PL" dirty="0"/>
              <a:t>Ostry incydent komorowy otoczony zdrowymi </a:t>
            </a:r>
            <a:r>
              <a:rPr lang="pl-PL" dirty="0" err="1"/>
              <a:t>pobudzeniami</a:t>
            </a:r>
            <a:r>
              <a:rPr lang="pl-PL" dirty="0"/>
              <a:t>,</a:t>
            </a:r>
            <a:r>
              <a:rPr lang="it-IT" dirty="0"/>
              <a:t> </a:t>
            </a:r>
          </a:p>
          <a:p>
            <a:r>
              <a:rPr lang="pl-PL" dirty="0"/>
              <a:t>Oba modele bezbłędnie wychwytują skurcz komorowy (Pewność </a:t>
            </a:r>
            <a:r>
              <a:rPr lang="pl-PL" dirty="0" err="1"/>
              <a:t>ResNet</a:t>
            </a:r>
            <a:r>
              <a:rPr lang="pl-PL" dirty="0"/>
              <a:t>: 0.99, </a:t>
            </a:r>
            <a:r>
              <a:rPr lang="pl-PL" dirty="0" err="1"/>
              <a:t>BiLSTM</a:t>
            </a:r>
            <a:r>
              <a:rPr lang="pl-PL" dirty="0"/>
              <a:t>: 0.91),</a:t>
            </a:r>
          </a:p>
          <a:p>
            <a:r>
              <a:rPr lang="pl-PL" dirty="0" err="1"/>
              <a:t>ResNet</a:t>
            </a:r>
            <a:r>
              <a:rPr lang="pl-PL" dirty="0"/>
              <a:t> zachowuje stabilność strukturalną, </a:t>
            </a:r>
            <a:r>
              <a:rPr lang="pl-PL" dirty="0" err="1"/>
              <a:t>BiLSTM</a:t>
            </a:r>
            <a:r>
              <a:rPr lang="pl-PL" dirty="0"/>
              <a:t> ponownie nadinterpretuje zdrowe pobudzenia jako klasę Q,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pl-PL" dirty="0"/>
              <a:t>Mimo wyższej globalnej dokładności </a:t>
            </a:r>
            <a:r>
              <a:rPr lang="pl-PL" dirty="0" err="1"/>
              <a:t>BiLSTM</a:t>
            </a:r>
            <a:r>
              <a:rPr lang="pl-PL" dirty="0"/>
              <a:t> na zbiorze testowym, w realnym działaniu medycznym to 1D-ResNet jest bezpieczniejszy i stabilniejszy, ponieważ ogranicza fałszywe alarmy.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7A4147B-2FDF-9524-2AC7-6CB2C2DAC5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B1F4C93-AE38-3491-9430-A1E54A3365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5" r="1420" b="5919"/>
          <a:stretch>
            <a:fillRect/>
          </a:stretch>
        </p:blipFill>
        <p:spPr bwMode="auto">
          <a:xfrm>
            <a:off x="0" y="1270000"/>
            <a:ext cx="4287982" cy="294736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3226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ACF4-02DC-7652-A8AD-5593F29E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 descr="przykładowy tytuł">
            <a:extLst>
              <a:ext uri="{FF2B5EF4-FFF2-40B4-BE49-F238E27FC236}">
                <a16:creationId xmlns:a16="http://schemas.microsoft.com/office/drawing/2014/main" id="{F56567BF-95BD-B781-274E-089CD5141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127" y="399618"/>
            <a:ext cx="7541112" cy="1102519"/>
          </a:xfrm>
        </p:spPr>
        <p:txBody>
          <a:bodyPr/>
          <a:lstStyle/>
          <a:p>
            <a:r>
              <a:rPr lang="pl-PL" dirty="0"/>
              <a:t>Podsumowanie i kierunki dalszych badań 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C7E3069-4DCB-1BAE-6CB3-51736FF99F7E}"/>
              </a:ext>
            </a:extLst>
          </p:cNvPr>
          <p:cNvSpPr txBox="1"/>
          <p:nvPr/>
        </p:nvSpPr>
        <p:spPr>
          <a:xfrm>
            <a:off x="609601" y="1794165"/>
            <a:ext cx="76776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Wnioski:</a:t>
            </a:r>
          </a:p>
          <a:p>
            <a:endParaRPr lang="pl-PL" sz="1200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Cele pracy zostały w pełni zrealizowane, potok technologiczny </a:t>
            </a:r>
            <a:r>
              <a:rPr lang="pl-PL" sz="120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Kafka+Docker</a:t>
            </a:r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udowodnił pełną gotowość operacyjną,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Wybór modelu zależy od priorytetu systemu (</a:t>
            </a:r>
            <a:r>
              <a:rPr lang="pl-PL" sz="120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BiLSTM</a:t>
            </a:r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– maksymalny </a:t>
            </a:r>
            <a:r>
              <a:rPr lang="pl-PL" sz="120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recall</a:t>
            </a:r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dla klasy V; </a:t>
            </a:r>
            <a:r>
              <a:rPr lang="pl-PL" sz="120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ResNet</a:t>
            </a:r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– stabilność kliniczna i brak fałszywych alarmów)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sz="1200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Możliwe kierunki rozwoju:</a:t>
            </a:r>
          </a:p>
          <a:p>
            <a:endParaRPr lang="pl-PL" sz="1200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Budowa modeli kaskadowych i zespołowych (</a:t>
            </a:r>
            <a:r>
              <a:rPr lang="pl-PL" sz="1200" i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Ensemble </a:t>
            </a:r>
            <a:r>
              <a:rPr lang="pl-PL" sz="1200" i="1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models</a:t>
            </a:r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łączących zalety obu sieci,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Wdrożenie szybkiej adaptacji specyficznej dla pacjenta (</a:t>
            </a:r>
            <a:r>
              <a:rPr lang="pl-PL" sz="1200" i="1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patient-specific</a:t>
            </a:r>
            <a:r>
              <a:rPr lang="pl-PL" sz="1200" i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l-PL" sz="1200" i="1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adaptation</a:t>
            </a:r>
            <a:r>
              <a:rPr lang="pl-PL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w pierwszych minutach sygnału.</a:t>
            </a:r>
          </a:p>
        </p:txBody>
      </p:sp>
    </p:spTree>
    <p:extLst>
      <p:ext uri="{BB962C8B-B14F-4D97-AF65-F5344CB8AC3E}">
        <p14:creationId xmlns:p14="http://schemas.microsoft.com/office/powerpoint/2010/main" val="1717068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103C5-9EE9-0603-8752-26EA689C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 descr="dodaj tytuł">
            <a:extLst>
              <a:ext uri="{FF2B5EF4-FFF2-40B4-BE49-F238E27FC236}">
                <a16:creationId xmlns:a16="http://schemas.microsoft.com/office/drawing/2014/main" id="{0E4774DD-5882-B18F-1D00-B6D1B21A6B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Dziękuję za uwagę!</a:t>
            </a:r>
          </a:p>
        </p:txBody>
      </p:sp>
      <p:sp>
        <p:nvSpPr>
          <p:cNvPr id="3" name="Podtytuł 2" descr="dodaj podtytuł">
            <a:extLst>
              <a:ext uri="{FF2B5EF4-FFF2-40B4-BE49-F238E27FC236}">
                <a16:creationId xmlns:a16="http://schemas.microsoft.com/office/drawing/2014/main" id="{EF67CB54-7BB2-2C6F-98EB-34A81087C9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0771605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Niestandardowe 3">
      <a:dk1>
        <a:sysClr val="windowText" lastClr="000000"/>
      </a:dk1>
      <a:lt1>
        <a:sysClr val="window" lastClr="FFFFFF"/>
      </a:lt1>
      <a:dk2>
        <a:srgbClr val="007481"/>
      </a:dk2>
      <a:lt2>
        <a:srgbClr val="FFFFFF"/>
      </a:lt2>
      <a:accent1>
        <a:srgbClr val="007481"/>
      </a:accent1>
      <a:accent2>
        <a:srgbClr val="C7D42D"/>
      </a:accent2>
      <a:accent3>
        <a:srgbClr val="00B0E1"/>
      </a:accent3>
      <a:accent4>
        <a:srgbClr val="C6C6C6"/>
      </a:accent4>
      <a:accent5>
        <a:srgbClr val="7C7C7C"/>
      </a:accent5>
      <a:accent6>
        <a:srgbClr val="3C3C3C"/>
      </a:accent6>
      <a:hlink>
        <a:srgbClr val="009FE3"/>
      </a:hlink>
      <a:folHlink>
        <a:srgbClr val="BBE4F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Motyw pakietu Office">
  <a:themeElements>
    <a:clrScheme name="Niestandardowe 3">
      <a:dk1>
        <a:sysClr val="windowText" lastClr="000000"/>
      </a:dk1>
      <a:lt1>
        <a:sysClr val="window" lastClr="FFFFFF"/>
      </a:lt1>
      <a:dk2>
        <a:srgbClr val="007481"/>
      </a:dk2>
      <a:lt2>
        <a:srgbClr val="FFFFFF"/>
      </a:lt2>
      <a:accent1>
        <a:srgbClr val="007481"/>
      </a:accent1>
      <a:accent2>
        <a:srgbClr val="C7D42D"/>
      </a:accent2>
      <a:accent3>
        <a:srgbClr val="00B0E1"/>
      </a:accent3>
      <a:accent4>
        <a:srgbClr val="C6C6C6"/>
      </a:accent4>
      <a:accent5>
        <a:srgbClr val="7C7C7C"/>
      </a:accent5>
      <a:accent6>
        <a:srgbClr val="3C3C3C"/>
      </a:accent6>
      <a:hlink>
        <a:srgbClr val="009FE3"/>
      </a:hlink>
      <a:folHlink>
        <a:srgbClr val="BBE4F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362BABBD2697940AC1DAF92327D3420" ma:contentTypeVersion="1" ma:contentTypeDescription="Utwórz nowy dokument." ma:contentTypeScope="" ma:versionID="b758795591d9adbbd5813f01d912e2c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d5655aa40fd62c26d3cd695d3e5ffb0d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Planowana data rozpoczęcia" ma:internalName="PublishingStartDate">
      <xsd:simpleType>
        <xsd:restriction base="dms:Unknown"/>
      </xsd:simpleType>
    </xsd:element>
    <xsd:element name="PublishingExpirationDate" ma:index="9" nillable="true" ma:displayName="Planowana data zakończenia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338D63-1011-4E21-BA98-B1373A38C4F0}">
  <ds:schemaRefs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microsoft.com/sharepoint/v3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5B6B73C-2CE5-4D1B-B309-C6DBF946FE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8EA0AD-14F4-4232-A3D9-5B11B317B7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581</Words>
  <Application>Microsoft Office PowerPoint</Application>
  <PresentationFormat>Pokaz na ekranie (16:9)</PresentationFormat>
  <Paragraphs>85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2</vt:i4>
      </vt:variant>
      <vt:variant>
        <vt:lpstr>Tytuły slajdów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Open Sans Light</vt:lpstr>
      <vt:lpstr>Open Sans Regular</vt:lpstr>
      <vt:lpstr>Times New Roman</vt:lpstr>
      <vt:lpstr>Motyw pakietu Office</vt:lpstr>
      <vt:lpstr>1_Motyw pakietu Office</vt:lpstr>
      <vt:lpstr>Klasyfikacja sygnału elektrokardiograficznego              w czasie rzeczywistym przy użyciu głębokich sieci neuronowych i architektury strumieniowej  </vt:lpstr>
      <vt:lpstr>Wprowadzenie i motywacja  biznesowo-medyczna</vt:lpstr>
      <vt:lpstr>Cel, zakres i wyzwania analityczne</vt:lpstr>
      <vt:lpstr>Architektura systemu</vt:lpstr>
      <vt:lpstr>Przetwarzanie wstępne: Algorytm Pan-Tompkinsa   i standaryzacja</vt:lpstr>
      <vt:lpstr>Architektura testowanych modeli </vt:lpstr>
      <vt:lpstr>Wyniki eksperymentalne na zbiorze testowym DS2 </vt:lpstr>
      <vt:lpstr>Studium Przypadku dla Klasy N</vt:lpstr>
      <vt:lpstr>Studium Przypadku dla Klasy V</vt:lpstr>
      <vt:lpstr>Podsumowanie i kierunki dalszych badań </vt:lpstr>
      <vt:lpstr>Dziękuję za uwagę!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ogólna – przykład w języku polskim</dc:title>
  <dc:creator>kotbury</dc:creator>
  <cp:lastModifiedBy>Justyna Weber</cp:lastModifiedBy>
  <cp:revision>44</cp:revision>
  <dcterms:created xsi:type="dcterms:W3CDTF">2019-01-31T15:24:43Z</dcterms:created>
  <dcterms:modified xsi:type="dcterms:W3CDTF">2026-06-08T20:02:27Z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0x010100C362BABBD2697940AC1DAF92327D3420</vt:lpwstr>
  </property>
</Properties>
</file>